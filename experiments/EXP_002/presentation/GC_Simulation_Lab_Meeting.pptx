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A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A9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/ 20</a:t>
            </a:r>
            <a:endParaRPr lang="en-US" sz="800" dirty="0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54864"/>
          </a:xfrm>
          <a:prstGeom prst="rectangle">
            <a:avLst/>
          </a:prstGeom>
          <a:solidFill>
            <a:srgbClr val="3B82F6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914400"/>
            <a:ext cx="768096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3600" b="1" dirty="0">
                <a:solidFill>
                  <a:srgbClr val="FBFB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GPU Simulation of a</a:t>
            </a:r>
            <a:endParaRPr lang="en-US" sz="36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3600" b="1" dirty="0">
                <a:solidFill>
                  <a:srgbClr val="FBFB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Synthetic Germinal Center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731520" y="2743200"/>
            <a:ext cx="6400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9A9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silico modelling of affinity maturation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9A9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an engineered bacterial system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31520" y="411480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Michael Sedbon  ·  Lab Meeting  ·  March 2026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731520" y="2606040"/>
            <a:ext cx="2286000" cy="27432"/>
          </a:xfrm>
          <a:prstGeom prst="rectangle">
            <a:avLst/>
          </a:prstGeom>
          <a:solidFill>
            <a:srgbClr val="3B82F6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A1A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A9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20</a:t>
            </a:r>
            <a:endParaRPr lang="en-US" sz="800" dirty="0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27432"/>
          </a:xfrm>
          <a:prstGeom prst="rectangle">
            <a:avLst/>
          </a:prstGeom>
          <a:solidFill>
            <a:srgbClr val="3B82F6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3716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400" kern="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BFB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Challenge: Affinity Maturation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457200" y="118872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b="1" dirty="0">
                <a:solidFill>
                  <a:srgbClr val="FBFB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Natural germinal centers (GCs)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FBFB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 cells undergo iterative cycles of somatic hypermutation (SHM) in the dark zone and antigen-based selection in the light zone, progressively improving antibody affinity.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FBFB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directed evolution lacks the DZ/LZ architecture. Mutations and selection happen in the same environment, limiting exploration of sequence space.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approach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FBFB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 a synthetic GC in E. coli: physically separate mutagenesis (DZ) from selection (LZ) and use robotic transfers to cycle between compartments.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943600" y="1097280"/>
            <a:ext cx="2926080" cy="3291840"/>
          </a:xfrm>
          <a:prstGeom prst="rectangle">
            <a:avLst/>
          </a:prstGeom>
          <a:solidFill>
            <a:srgbClr val="262630"/>
          </a:solidFill>
          <a:ln w="12700">
            <a:solidFill>
              <a:srgbClr val="3A3A4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43600" y="1828800"/>
            <a:ext cx="29260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DZ → LZ → DZ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cycle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5943600" y="2926080"/>
            <a:ext cx="29260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A9A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Mutation          Selection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9A9A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(Growth)          (Beads)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1A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A9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20</a:t>
            </a:r>
            <a:endParaRPr lang="en-US" sz="800" dirty="0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27432"/>
          </a:xfrm>
          <a:prstGeom prst="rectangle">
            <a:avLst/>
          </a:prstGeom>
          <a:solidFill>
            <a:srgbClr val="3B82F6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3716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400" kern="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BFB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Synthetic Germinal Center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457200" y="1280160"/>
            <a:ext cx="3840480" cy="2926080"/>
          </a:xfrm>
          <a:prstGeom prst="rectangle">
            <a:avLst/>
          </a:prstGeom>
          <a:solidFill>
            <a:srgbClr val="262630"/>
          </a:solidFill>
          <a:ln w="12700">
            <a:solidFill>
              <a:srgbClr val="3A3A4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280160"/>
            <a:ext cx="3840480" cy="36576"/>
          </a:xfrm>
          <a:prstGeom prst="rectangle">
            <a:avLst/>
          </a:prstGeom>
          <a:solidFill>
            <a:srgbClr val="EF4444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141732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DARK ZONE (DZ)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40080" y="1874520"/>
            <a:ext cx="347472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100" dirty="0">
                <a:solidFill>
                  <a:srgbClr val="FBFB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E. coli grow with error-prone T7 RNAP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FBFB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T7 replicates a nanobody gene cassette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FBFB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Mutations accumulate at rate set by T7 variant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FBFB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6 divisions (doublings) per cycle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FBFB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Turbidostat maintains constant population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846320" y="1280160"/>
            <a:ext cx="3840480" cy="2926080"/>
          </a:xfrm>
          <a:prstGeom prst="rectangle">
            <a:avLst/>
          </a:prstGeom>
          <a:solidFill>
            <a:srgbClr val="262630"/>
          </a:solidFill>
          <a:ln w="12700">
            <a:solidFill>
              <a:srgbClr val="3A3A4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846320" y="1280160"/>
            <a:ext cx="3840480" cy="36576"/>
          </a:xfrm>
          <a:prstGeom prst="rectangle">
            <a:avLst/>
          </a:prstGeom>
          <a:solidFill>
            <a:srgbClr val="22C55E"/>
          </a:solidFill>
          <a:ln/>
        </p:spPr>
      </p:sp>
      <p:sp>
        <p:nvSpPr>
          <p:cNvPr id="12" name="Text 10"/>
          <p:cNvSpPr/>
          <p:nvPr/>
        </p:nvSpPr>
        <p:spPr>
          <a:xfrm>
            <a:off x="5029200" y="141732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 ZONE (LZ)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029200" y="1874520"/>
            <a:ext cx="347472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100" dirty="0">
                <a:solidFill>
                  <a:srgbClr val="FBFB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Cells migrate after 6 DZ divisions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FBFB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Hill function selection: a³/(a³+K³)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FBFB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Survival depends on affinity to antigen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FBFB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No division in LZ (selection only)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FBFB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Survivors return to DZ for next cycle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A1A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A9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20</a:t>
            </a:r>
            <a:endParaRPr lang="en-US" sz="800" dirty="0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27432"/>
          </a:xfrm>
          <a:prstGeom prst="rectangle">
            <a:avLst/>
          </a:prstGeom>
          <a:solidFill>
            <a:srgbClr val="3B82F6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3716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400" kern="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BFB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GC Cycle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457200" y="1828800"/>
            <a:ext cx="1463040" cy="914400"/>
          </a:xfrm>
          <a:prstGeom prst="rectangle">
            <a:avLst/>
          </a:prstGeom>
          <a:solidFill>
            <a:srgbClr val="262630"/>
          </a:solidFill>
          <a:ln w="25400">
            <a:solidFill>
              <a:srgbClr val="3B82F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828800"/>
            <a:ext cx="1463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BFB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Founders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BFB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(n=50)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103120" y="1828800"/>
            <a:ext cx="1463040" cy="914400"/>
          </a:xfrm>
          <a:prstGeom prst="rectangle">
            <a:avLst/>
          </a:prstGeom>
          <a:solidFill>
            <a:srgbClr val="262630"/>
          </a:solidFill>
          <a:ln w="25400">
            <a:solidFill>
              <a:srgbClr val="EF444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103120" y="1828800"/>
            <a:ext cx="1463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BFB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DZ Growth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BFB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divisions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749040" y="1828800"/>
            <a:ext cx="1463040" cy="914400"/>
          </a:xfrm>
          <a:prstGeom prst="rectangle">
            <a:avLst/>
          </a:prstGeom>
          <a:solidFill>
            <a:srgbClr val="262630"/>
          </a:solidFill>
          <a:ln w="25400">
            <a:solidFill>
              <a:srgbClr val="F59E0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749040" y="1828800"/>
            <a:ext cx="1463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BFB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Mutation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BFB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(T7 RNAP)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394960" y="1828800"/>
            <a:ext cx="1463040" cy="914400"/>
          </a:xfrm>
          <a:prstGeom prst="rectangle">
            <a:avLst/>
          </a:prstGeom>
          <a:solidFill>
            <a:srgbClr val="262630"/>
          </a:solidFill>
          <a:ln w="25400">
            <a:solidFill>
              <a:srgbClr val="22C55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394960" y="1828800"/>
            <a:ext cx="1463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BFB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LZ Selection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BFB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Hill: a³/(a³+K³)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040880" y="1828800"/>
            <a:ext cx="1463040" cy="914400"/>
          </a:xfrm>
          <a:prstGeom prst="rectangle">
            <a:avLst/>
          </a:prstGeom>
          <a:solidFill>
            <a:srgbClr val="262630"/>
          </a:solidFill>
          <a:ln w="25400">
            <a:solidFill>
              <a:srgbClr val="3B82F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040880" y="1828800"/>
            <a:ext cx="1463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BFB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 to DZ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BFB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(survivors)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1920240" y="2240280"/>
            <a:ext cx="182880" cy="18288"/>
          </a:xfrm>
          <a:prstGeom prst="rectangle">
            <a:avLst/>
          </a:prstGeom>
          <a:solidFill>
            <a:srgbClr val="9A9AA0"/>
          </a:solidFill>
          <a:ln/>
        </p:spPr>
      </p:sp>
      <p:sp>
        <p:nvSpPr>
          <p:cNvPr id="17" name="Shape 15"/>
          <p:cNvSpPr/>
          <p:nvPr/>
        </p:nvSpPr>
        <p:spPr>
          <a:xfrm>
            <a:off x="3566160" y="2240280"/>
            <a:ext cx="182880" cy="18288"/>
          </a:xfrm>
          <a:prstGeom prst="rectangle">
            <a:avLst/>
          </a:prstGeom>
          <a:solidFill>
            <a:srgbClr val="9A9AA0"/>
          </a:solidFill>
          <a:ln/>
        </p:spPr>
      </p:sp>
      <p:sp>
        <p:nvSpPr>
          <p:cNvPr id="18" name="Shape 16"/>
          <p:cNvSpPr/>
          <p:nvPr/>
        </p:nvSpPr>
        <p:spPr>
          <a:xfrm>
            <a:off x="5212080" y="2240280"/>
            <a:ext cx="182880" cy="18288"/>
          </a:xfrm>
          <a:prstGeom prst="rectangle">
            <a:avLst/>
          </a:prstGeom>
          <a:solidFill>
            <a:srgbClr val="9A9AA0"/>
          </a:solidFill>
          <a:ln/>
        </p:spPr>
      </p:sp>
      <p:sp>
        <p:nvSpPr>
          <p:cNvPr id="19" name="Shape 17"/>
          <p:cNvSpPr/>
          <p:nvPr/>
        </p:nvSpPr>
        <p:spPr>
          <a:xfrm>
            <a:off x="6858000" y="2240280"/>
            <a:ext cx="182880" cy="18288"/>
          </a:xfrm>
          <a:prstGeom prst="rectangle">
            <a:avLst/>
          </a:prstGeom>
          <a:solidFill>
            <a:srgbClr val="9A9AA0"/>
          </a:solidFill>
          <a:ln/>
        </p:spPr>
      </p:sp>
      <p:sp>
        <p:nvSpPr>
          <p:cNvPr id="20" name="Text 18"/>
          <p:cNvSpPr/>
          <p:nvPr/>
        </p:nvSpPr>
        <p:spPr>
          <a:xfrm>
            <a:off x="1828800" y="301752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 Cycle repeats (140 cycles = ~7 GC days) ←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57200" y="38404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9A9A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Key parameters:  </a:t>
            </a:r>
            <a:pPr algn="l" indent="0" marL="0">
              <a:buNone/>
            </a:pPr>
            <a:r>
              <a:rPr lang="en-US" sz="1000" dirty="0">
                <a:solidFill>
                  <a:srgbClr val="9A9A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 = 10,000 cells  |  L = 400 (shape space)  |  140 cycles  |  Turbidostat mode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A1A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A9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20</a:t>
            </a:r>
            <a:endParaRPr lang="en-US" sz="800" dirty="0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27432"/>
          </a:xfrm>
          <a:prstGeom prst="rectangle">
            <a:avLst/>
          </a:prstGeom>
          <a:solidFill>
            <a:srgbClr val="3B82F6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3716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400" kern="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SIMULATION DESIGN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BFB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Shape Space &amp; Affinity Model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457200" y="1188720"/>
            <a:ext cx="82296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b="1" dirty="0">
                <a:solidFill>
                  <a:srgbClr val="FBFB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Shape space representation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FBFB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cell's antibody = binary string of length L (400 bases)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FBFB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Antigen = fixed binary target string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b="1" dirty="0">
                <a:solidFill>
                  <a:srgbClr val="FBFB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Affinity = Gaussian on Hamming distance: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FBFB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a(x) = exp( -γ · (d(x, target) / L)² )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FBFB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d(x, target) = number of mismatched positions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FBFB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γ = 105 (L=400) or 10.5 (L=40) — controls landscape steepness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b="1" dirty="0">
                <a:solidFill>
                  <a:srgbClr val="FBFB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Mutation: each position flips with probability = mutation_rate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FBFB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mutations per division = mutation_rate × L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A1A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A9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20</a:t>
            </a:r>
            <a:endParaRPr lang="en-US" sz="800" dirty="0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27432"/>
          </a:xfrm>
          <a:prstGeom prst="rectangle">
            <a:avLst/>
          </a:prstGeom>
          <a:solidFill>
            <a:srgbClr val="3B82F6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3716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400" kern="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SIMULATION DESIGN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BFB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Hill Function Selection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1371600" y="1188720"/>
            <a:ext cx="6400800" cy="914400"/>
          </a:xfrm>
          <a:prstGeom prst="rectangle">
            <a:avLst/>
          </a:prstGeom>
          <a:solidFill>
            <a:srgbClr val="262630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371600" y="1188720"/>
            <a:ext cx="6400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3B82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P(survive) = a³ / (a³ + K³)</a:t>
            </a:r>
            <a:endParaRPr lang="en-US" sz="22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14400" y="2377440"/>
          <a:ext cx="7315200" cy="2286000"/>
        </p:xfrm>
        <a:graphic>
          <a:graphicData uri="http://schemas.openxmlformats.org/drawingml/2006/table">
            <a:tbl>
              <a:tblPr/>
              <a:tblGrid>
                <a:gridCol w="1828800"/>
                <a:gridCol w="2743200"/>
                <a:gridCol w="2743200"/>
              </a:tblGrid>
              <a:tr h="32657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3B82F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 value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3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20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3B82F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Survival at a=0.58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3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20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3B82F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Selection type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3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2028"/>
                    </a:solidFill>
                  </a:tcPr>
                </a:tc>
              </a:tr>
              <a:tr h="32657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BFB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 = 0.001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3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BFB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~100%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3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BFB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selection (control)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3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657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BFB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 = 0.05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3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BFB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~99.9%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3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BFB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Very weak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3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657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BFB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 = 0.1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3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BFB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~99.5%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3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BFB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Weak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3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657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BFB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 = 0.2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3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BFB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~96%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3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BFB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Moderate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3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657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BFB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 = 0.3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3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BFB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~88%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3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BFB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Standard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3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657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BFB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 = 10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3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BFB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~0.02%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3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BFB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Lethal (control)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3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A1A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A9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20</a:t>
            </a:r>
            <a:endParaRPr lang="en-US" sz="800" dirty="0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27432"/>
          </a:xfrm>
          <a:prstGeom prst="rectangle">
            <a:avLst/>
          </a:prstGeom>
          <a:solidFill>
            <a:srgbClr val="3B82F6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3716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400" kern="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SIMULATION DESIGN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BFB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Implementation: Python + JAX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457200" y="1188720"/>
            <a:ext cx="822960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1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Framework</a:t>
            </a:r>
            <a:endParaRPr lang="en-US" sz="11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FBFB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+ JAX (GPU-accelerable NumPy) on RTX 2080 Ti (11 GB VRAM)</a:t>
            </a:r>
            <a:endParaRPr lang="en-US" sz="1100" dirty="0"/>
          </a:p>
          <a:p>
            <a:pPr indent="0" marL="0">
              <a:lnSpc>
                <a:spcPct val="135000"/>
              </a:lnSpc>
              <a:buNone/>
            </a:pPr>
            <a:endParaRPr lang="en-US" sz="11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1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1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FBFB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Padded fixed-size arrays (Structure-of-Arrays) for GPU compatibility</a:t>
            </a:r>
            <a:endParaRPr lang="en-US" sz="11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FBFB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modules: config, state, growth, migration, selection, simulation, analysis + GPU variants</a:t>
            </a:r>
            <a:endParaRPr lang="en-US" sz="1100" dirty="0"/>
          </a:p>
          <a:p>
            <a:pPr indent="0" marL="0">
              <a:lnSpc>
                <a:spcPct val="135000"/>
              </a:lnSpc>
              <a:buNone/>
            </a:pPr>
            <a:endParaRPr lang="en-US" sz="11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1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(N=10K, L=400)</a:t>
            </a:r>
            <a:endParaRPr lang="en-US" sz="11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FBFB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CPU: ~45s/cycle at N=1M  |  GPU: 185ms/step for natural GC</a:t>
            </a:r>
            <a:endParaRPr lang="en-US" sz="1100" dirty="0"/>
          </a:p>
          <a:p>
            <a:pPr indent="0" marL="0">
              <a:lnSpc>
                <a:spcPct val="135000"/>
              </a:lnSpc>
              <a:buNone/>
            </a:pPr>
            <a:endParaRPr lang="en-US" sz="11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1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</a:t>
            </a:r>
            <a:endParaRPr lang="en-US" sz="11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FBFB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controls pass: zero mutation, no selection, perfect selection, low mutation, lethal selection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A1A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A9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20</a:t>
            </a:r>
            <a:endParaRPr lang="en-US" sz="800" dirty="0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27432"/>
          </a:xfrm>
          <a:prstGeom prst="rectangle">
            <a:avLst/>
          </a:prstGeom>
          <a:solidFill>
            <a:srgbClr val="3B82F6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3716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400" kern="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RESULTS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BFB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Working Simulation: Turbidostat v2</a:t>
            </a:r>
            <a:endParaRPr lang="en-US" sz="24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229600" cy="1097280"/>
        </p:xfrm>
        <a:graphic>
          <a:graphicData uri="http://schemas.openxmlformats.org/drawingml/2006/table">
            <a:tbl>
              <a:tblPr/>
              <a:tblGrid>
                <a:gridCol w="1645920"/>
                <a:gridCol w="1645920"/>
                <a:gridCol w="1645920"/>
                <a:gridCol w="1645920"/>
                <a:gridCol w="164592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3B82F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Version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3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20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3B82F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3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20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3B82F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Mean Aff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3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20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3B82F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Max Aff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3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20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3B82F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Issue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3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202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BFB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v1 (batch)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3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BFB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Random 10% transfer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3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BFB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0.13→0.15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3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BFB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3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BFB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Selection diluted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3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2C5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v2 (turbidostat)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3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BFB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Division-triggered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3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2C5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0.13→0.53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3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2C5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3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C5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Working ✓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3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457200" y="256032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insight: </a:t>
            </a:r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FBFB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Division-triggered migration (cells move to LZ after 6 doublings rather than random transfer) makes selection work. Affinity increases from 0.13 to 0.53 — genuine maturation.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A1A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A9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20</a:t>
            </a:r>
            <a:endParaRPr lang="en-US" sz="800" dirty="0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27432"/>
          </a:xfrm>
          <a:prstGeom prst="rectangle">
            <a:avLst/>
          </a:prstGeom>
          <a:solidFill>
            <a:srgbClr val="3B82F6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3716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400" kern="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RESULTS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BFB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N=1M Run — Muller's Ratchet</a:t>
            </a:r>
            <a:endParaRPr lang="en-US" sz="2400" dirty="0"/>
          </a:p>
        </p:txBody>
      </p:sp>
      <p:pic>
        <p:nvPicPr>
          <p:cNvPr id="6" name="Image 0" descr="/Users/michaelsedbon/Documents/PhD/experiments/EXP_002/simulation/results/archive/cpu_1M_140cyc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1097280"/>
            <a:ext cx="5029200" cy="320040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486400" y="1097280"/>
            <a:ext cx="3383280" cy="3200400"/>
          </a:xfrm>
          <a:prstGeom prst="rectangle">
            <a:avLst/>
          </a:prstGeom>
          <a:solidFill>
            <a:srgbClr val="262630"/>
          </a:solidFill>
          <a:ln w="12700">
            <a:solidFill>
              <a:srgbClr val="3A3A44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669280" y="1280160"/>
            <a:ext cx="3017520" cy="2834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Parameters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FBFB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 = 1,000,000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FBFB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 = 400, mut_rate = 5×10⁻⁴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FBFB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140 cycles, 108 min runtime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FBFB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aff: 0.58 → 0.29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FBFB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 aff: 0.80 → 0.42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FBFB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clone: 2% → 80%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Diagnosis: mutation load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overwhelms selection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(Muller's ratchet)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A1A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A9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20</a:t>
            </a:r>
            <a:endParaRPr lang="en-US" sz="800" dirty="0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27432"/>
          </a:xfrm>
          <a:prstGeom prst="rectangle">
            <a:avLst/>
          </a:prstGeom>
          <a:solidFill>
            <a:srgbClr val="3B82F6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3716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400" kern="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RESULTS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BFB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Parameter Sweep: mutation_rate × hill_k</a:t>
            </a:r>
            <a:endParaRPr lang="en-US" sz="2400" dirty="0"/>
          </a:p>
        </p:txBody>
      </p:sp>
      <p:pic>
        <p:nvPicPr>
          <p:cNvPr id="6" name="Image 0" descr="/Users/michaelsedbon/Documents/PhD/experiments/EXP_002/simulation/results/sweep/sweep_heatma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1005840"/>
            <a:ext cx="8595360" cy="32004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57200" y="42976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A9A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L=400, N=10K, 140 cycles  |  4×4 grid  |  1 MATURATION, 1 STABLE, 14 DEGRADATION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A1A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A9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20</a:t>
            </a:r>
            <a:endParaRPr lang="en-US" sz="800" dirty="0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27432"/>
          </a:xfrm>
          <a:prstGeom prst="rectangle">
            <a:avLst/>
          </a:prstGeom>
          <a:solidFill>
            <a:srgbClr val="3B82F6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3716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400" kern="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RESULTS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BFB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Stronger Selection Makes Things Worse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457200" y="1097280"/>
            <a:ext cx="822960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Counter-intuitive result: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FBFB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K=0.05 (strong selection) degrades FASTER than K=0.3 (weak selection)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Mechanism — the death spiral: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FBFB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Strong selection kills low-affinity cells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FBFB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Reduced population → less diversity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FBFB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Mutations mostly deleterious at these rates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FBFB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Best clone degrades → gets killed → spiral continues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weak selection works: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FBFB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K=0.3 gives ~88% survival — keeps population large and diverse.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FBFB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 population = more chances for rare beneficial mutations to arise.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FBFB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Selection is gentle enough to favor but not destroy.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A1A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A9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20</a:t>
            </a:r>
            <a:endParaRPr lang="en-US" sz="800" dirty="0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27432"/>
          </a:xfrm>
          <a:prstGeom prst="rectangle">
            <a:avLst/>
          </a:prstGeom>
          <a:solidFill>
            <a:srgbClr val="3B82F6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3716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400" kern="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BFB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Simulation Validation Controls</a:t>
            </a:r>
            <a:endParaRPr lang="en-US" sz="24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1097280"/>
          <a:ext cx="8595360" cy="2286000"/>
        </p:xfrm>
        <a:graphic>
          <a:graphicData uri="http://schemas.openxmlformats.org/drawingml/2006/table">
            <a:tbl>
              <a:tblPr/>
              <a:tblGrid>
                <a:gridCol w="365760"/>
                <a:gridCol w="2286000"/>
                <a:gridCol w="1828800"/>
                <a:gridCol w="1371600"/>
                <a:gridCol w="914400"/>
                <a:gridCol w="914400"/>
              </a:tblGrid>
              <a:tr h="3810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3B82F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3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20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3B82F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Control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3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20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3B82F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Expected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3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20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3B82F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Δ Affinity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3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20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3B82F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Pop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3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20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3B82F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Verdict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3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2028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BFB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3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BFB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Zero mutation, K=0.3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3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BFB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Aff rises (pure selection)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3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22C5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+0.11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3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BFB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9,253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3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2C5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 ✓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3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BFB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3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BFB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selection (K=0.001)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3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BFB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Pop stable, aff drifts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3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59E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-0.05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3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BFB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10,000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3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2C5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 ✓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3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BFB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3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BFB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 top-1%, no mutation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3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BFB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Single best clone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3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BFB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3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BFB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3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2C5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 ✓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3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BFB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3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BFB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 mut (10⁻⁵) + K=0.3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3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BFB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Slow maturation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3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22C5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+0.09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3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BFB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9,168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3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2C5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 ✓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3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BFB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3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BFB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Lethal selection (K=10)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3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BFB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Pop collapse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3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-0.01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3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BFB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3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2C5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 ✓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3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pic>
        <p:nvPicPr>
          <p:cNvPr id="7" name="Image 0" descr="/Users/michaelsedbon/Documents/PhD/experiments/EXP_002/simulation/results/controls/1_zero_mutat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3474720"/>
            <a:ext cx="2743200" cy="1463040"/>
          </a:xfrm>
          <a:prstGeom prst="rect">
            <a:avLst/>
          </a:prstGeom>
        </p:spPr>
      </p:pic>
      <p:pic>
        <p:nvPicPr>
          <p:cNvPr id="8" name="Image 1" descr="/Users/michaelsedbon/Documents/PhD/experiments/EXP_002/simulation/results/controls/4_low_mut_moderate_se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0" y="3474720"/>
            <a:ext cx="2743200" cy="1463040"/>
          </a:xfrm>
          <a:prstGeom prst="rect">
            <a:avLst/>
          </a:prstGeom>
        </p:spPr>
      </p:pic>
      <p:pic>
        <p:nvPicPr>
          <p:cNvPr id="9" name="Image 2" descr="/Users/michaelsedbon/Documents/PhD/experiments/EXP_002/simulation/results/controls/5_lethal_selection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6480" y="3474720"/>
            <a:ext cx="2743200" cy="146304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A1A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A9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20</a:t>
            </a:r>
            <a:endParaRPr lang="en-US" sz="800" dirty="0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27432"/>
          </a:xfrm>
          <a:prstGeom prst="rectangle">
            <a:avLst/>
          </a:prstGeom>
          <a:solidFill>
            <a:srgbClr val="3B82F6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3716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400" kern="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BFB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Mutation Rate Calibration Error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457200" y="1097280"/>
            <a:ext cx="8229600" cy="822960"/>
          </a:xfrm>
          <a:prstGeom prst="rectangle">
            <a:avLst/>
          </a:prstGeom>
          <a:solidFill>
            <a:srgbClr val="3D2200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097280"/>
            <a:ext cx="7863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First sweep rates (10⁻⁴ – 10⁻³/bp/div) were 10–100× ABOVE actual T7 variant range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" y="210312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b="1" dirty="0">
                <a:solidFill>
                  <a:srgbClr val="FBFB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explains why almost everything degraded —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FBFB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were running at impossibly high mutation rates.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4 proved maturation works at 10⁻⁵ — which IS a real T7 rate.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A1A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A9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20</a:t>
            </a:r>
            <a:endParaRPr lang="en-US" sz="800" dirty="0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27432"/>
          </a:xfrm>
          <a:prstGeom prst="rectangle">
            <a:avLst/>
          </a:prstGeom>
          <a:solidFill>
            <a:srgbClr val="3B82F6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3716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400" kern="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BFB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T7 Polymerase Variant Rates</a:t>
            </a:r>
            <a:endParaRPr lang="en-US" sz="24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1097280"/>
          <a:ext cx="8595360" cy="2743200"/>
        </p:xfrm>
        <a:graphic>
          <a:graphicData uri="http://schemas.openxmlformats.org/drawingml/2006/table">
            <a:tbl>
              <a:tblPr/>
              <a:tblGrid>
                <a:gridCol w="1097280"/>
                <a:gridCol w="2286000"/>
                <a:gridCol w="1645920"/>
                <a:gridCol w="1645920"/>
                <a:gridCol w="1371600"/>
              </a:tblGrid>
              <a:tr h="391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3B82F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Variant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3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20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3B82F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Description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3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20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3B82F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Rate (/bp/div)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3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20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3B82F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mut/gene/div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3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20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3B82F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 sweep?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3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2028"/>
                    </a:solidFill>
                  </a:tcPr>
                </a:tc>
              </a:tr>
              <a:tr h="391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9A9A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WT E. coli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3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BFB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Normal replication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3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BFB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10⁻⁹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3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BFB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4×10⁻⁷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3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9A9A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Baseline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3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1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BFB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T7 V1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3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BFB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WT + exo + thioredoxin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3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BFB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10⁻⁸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3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BFB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4×10⁻⁶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3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2C5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NEW ✓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3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1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BFB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T7 V2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3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BFB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WT + exonuclease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3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BFB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10⁻⁷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3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BFB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4×10⁻⁵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3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2C5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NEW ✓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3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1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BFB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T7 V3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3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BFB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WT exonuclease⁻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3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BFB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10⁻⁶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3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BFB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4×10⁻⁴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3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2C5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NEW ✓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3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1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BFB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T7 V4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3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BFB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Error-prone exo⁻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3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BFB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10⁻⁵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3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BFB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4×10⁻³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3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2C5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NEW ✓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3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1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BFB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T7 V5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3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BFB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Highest error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3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BFB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10⁻⁴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3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BFB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3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59E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= old 0.0001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3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457200" y="40233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previous sweep's ONLY maturation point (rate=0.0001) = T7 V5 (highest error variant)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A1A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A9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20</a:t>
            </a:r>
            <a:endParaRPr lang="en-US" sz="800" dirty="0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27432"/>
          </a:xfrm>
          <a:prstGeom prst="rectangle">
            <a:avLst/>
          </a:prstGeom>
          <a:solidFill>
            <a:srgbClr val="3B82F6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3716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400" kern="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L-SCALING VALIDATION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BFB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L=400 → L=40: Scaling for GPU</a:t>
            </a:r>
            <a:endParaRPr lang="en-US" sz="24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8229600" cy="2011680"/>
        </p:xfrm>
        <a:graphic>
          <a:graphicData uri="http://schemas.openxmlformats.org/drawingml/2006/table">
            <a:tbl>
              <a:tblPr/>
              <a:tblGrid>
                <a:gridCol w="2286000"/>
                <a:gridCol w="1828800"/>
                <a:gridCol w="1828800"/>
                <a:gridCol w="2286000"/>
              </a:tblGrid>
              <a:tr h="3352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3B82F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Parameter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3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20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3B82F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L=400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3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20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3B82F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L=40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3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20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3B82F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Rule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3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2028"/>
                    </a:solidFill>
                  </a:tcPr>
                </a:tc>
              </a:tr>
              <a:tr h="3352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BFB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shape_space_dim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3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BFB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3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BFB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3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BFB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÷10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3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52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BFB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mutation_rate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3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BFB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varies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3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BFB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×10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3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BFB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rate × L constant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3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52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BFB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affinity_gamma (γ)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3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BFB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3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BFB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10.5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3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BFB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÷10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3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52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BFB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initial_hamming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3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BFB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50-100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3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BFB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5-10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3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BFB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÷10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3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52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BFB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N, cycles, dz_div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3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BFB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same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3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BFB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same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3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BFB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unchanged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3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457200" y="32918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L=40?  </a:t>
            </a:r>
            <a:pPr indent="0" marL="0">
              <a:buNone/>
            </a:pPr>
            <a:r>
              <a:rPr lang="en-US" sz="1100" dirty="0">
                <a:solidFill>
                  <a:srgbClr val="FBFB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L=40, N=10⁷ fits in 1.6 GB VRAM vs 16 GB at L=400. This enables GPU-scale experiments on the RTX 2080 Ti.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A1A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A9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/ 20</a:t>
            </a:r>
            <a:endParaRPr lang="en-US" sz="800" dirty="0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27432"/>
          </a:xfrm>
          <a:prstGeom prst="rectangle">
            <a:avLst/>
          </a:prstGeom>
          <a:solidFill>
            <a:srgbClr val="3B82F6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3716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400" kern="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L-SCALING VALIDATION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BFB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L=400 vs L=40: Heatmap Comparison</a:t>
            </a:r>
            <a:endParaRPr lang="en-US" sz="2400" dirty="0"/>
          </a:p>
        </p:txBody>
      </p:sp>
      <p:pic>
        <p:nvPicPr>
          <p:cNvPr id="6" name="Image 0" descr="/Users/michaelsedbon/Documents/PhD/experiments/EXP_002/simulation/results/sweep/sweep_heatma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1005840"/>
            <a:ext cx="4389120" cy="2377440"/>
          </a:xfrm>
          <a:prstGeom prst="rect">
            <a:avLst/>
          </a:prstGeom>
        </p:spPr>
      </p:pic>
      <p:pic>
        <p:nvPicPr>
          <p:cNvPr id="7" name="Image 1" descr="/Users/michaelsedbon/Documents/PhD/experiments/EXP_002/simulation/results/sweep_L40/sweep_L40_heatma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3440" y="1005840"/>
            <a:ext cx="4389120" cy="237744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91440" y="3383280"/>
            <a:ext cx="4389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A9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L=400 (CPU)</a:t>
            </a:r>
            <a:endParaRPr lang="en-US" sz="1000" dirty="0"/>
          </a:p>
        </p:txBody>
      </p:sp>
      <p:sp>
        <p:nvSpPr>
          <p:cNvPr id="9" name="Text 5"/>
          <p:cNvSpPr/>
          <p:nvPr/>
        </p:nvSpPr>
        <p:spPr>
          <a:xfrm>
            <a:off x="4663440" y="3383280"/>
            <a:ext cx="4389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A9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L=40 (GPU validation)</a:t>
            </a:r>
            <a:endParaRPr lang="en-US" sz="1000" dirty="0"/>
          </a:p>
        </p:txBody>
      </p:sp>
      <p:sp>
        <p:nvSpPr>
          <p:cNvPr id="10" name="Text 6"/>
          <p:cNvSpPr/>
          <p:nvPr/>
        </p:nvSpPr>
        <p:spPr>
          <a:xfrm>
            <a:off x="274320" y="3840480"/>
            <a:ext cx="8595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Same qualitative pattern</a:t>
            </a:r>
            <a:pPr algn="ctr" indent="0" marL="0">
              <a:buNone/>
            </a:pPr>
            <a:r>
              <a:rPr lang="en-US" sz="1000" dirty="0">
                <a:solidFill>
                  <a:srgbClr val="9A9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|  Maturation boundary at same position  |  Quantitative differences explained by L discretisation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A1A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A9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/ 20</a:t>
            </a:r>
            <a:endParaRPr lang="en-US" sz="800" dirty="0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27432"/>
          </a:xfrm>
          <a:prstGeom prst="rectangle">
            <a:avLst/>
          </a:prstGeom>
          <a:solidFill>
            <a:srgbClr val="3B82F6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3716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400" kern="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CORRECTED RESULTS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BFB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Corrected Sweep: Real T7 Variant Rates</a:t>
            </a:r>
            <a:endParaRPr lang="en-US" sz="2400" dirty="0"/>
          </a:p>
        </p:txBody>
      </p:sp>
      <p:pic>
        <p:nvPicPr>
          <p:cNvPr id="6" name="Image 0" descr="/Users/michaelsedbon/Documents/PhD/experiments/EXP_002/simulation/results/sweep_T7_rates/T7_rates_heatma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1005840"/>
            <a:ext cx="8595360" cy="32004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57200" y="42976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A9A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 biologically grounded rates × 4 hill_k = 24 runs  |  L=40, N=10K, 140 cycles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A1A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A9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/ 20</a:t>
            </a:r>
            <a:endParaRPr lang="en-US" sz="800" dirty="0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27432"/>
          </a:xfrm>
          <a:prstGeom prst="rectangle">
            <a:avLst/>
          </a:prstGeom>
          <a:solidFill>
            <a:srgbClr val="3B82F6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3716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400" kern="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CORRECTED RESULTS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BFB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Insight: Maturation at Biologically Relevant Rates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731520" y="1188720"/>
            <a:ext cx="7680960" cy="1097280"/>
          </a:xfrm>
          <a:prstGeom prst="rectangle">
            <a:avLst/>
          </a:prstGeom>
          <a:solidFill>
            <a:srgbClr val="0A2E1A"/>
          </a:solidFill>
          <a:ln w="25400">
            <a:solidFill>
              <a:srgbClr val="22C55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1188720"/>
            <a:ext cx="76809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real T7 rates (≤10⁻⁵/bp/div), the simulation consistently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produces affinity maturation — the system works!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31520" y="2468880"/>
            <a:ext cx="768096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learned: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b="1" dirty="0">
                <a:solidFill>
                  <a:srgbClr val="FBFB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Mutation rate is the dominant parameter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FBFB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Rate determines maturation vs degradation. Selection strength is secondary.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b="1" dirty="0">
                <a:solidFill>
                  <a:srgbClr val="FBFB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Weaker selection consistently outperforms stronger selection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FBFB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K=0.3 (~88% survival) &gt; K=0.05 (~99.9% survival) at every mutation rate.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b="1" dirty="0">
                <a:solidFill>
                  <a:srgbClr val="FBFB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There exists a critical mutation rate threshold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FBFB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Below this threshold → maturation. Above → Muller's ratchet.</a:t>
            </a:r>
            <a:endParaRPr lang="en-US" sz="11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1A1A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A9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 / 20</a:t>
            </a:r>
            <a:endParaRPr lang="en-US" sz="800" dirty="0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27432"/>
          </a:xfrm>
          <a:prstGeom prst="rectangle">
            <a:avLst/>
          </a:prstGeom>
          <a:solidFill>
            <a:srgbClr val="3B82F6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3716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400" kern="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OUTLOOK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BFB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457200" y="118872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554480" y="1188720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BFB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GPU scaling to N=10⁷ — does larger pop shift maturation boundary?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554480" y="1463040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BFB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GC vs directed evolution — code ready, run on T7 rate grid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57200" y="196596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554480" y="1965960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BFB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DZ/LZ cycling speed sweep (dz_divisions ∈ {2,3,4,6,8,12})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554480" y="2240280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BFB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Initial library affinity sweep — does quality matter?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554480" y="2514600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BFB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Multi-seed validation (5-10 seeds at boundary)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57200" y="301752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9A9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554480" y="3017520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BFB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Multi-epitope (3 antigens) — can GC maintain parallel maturation?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554480" y="3291840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BFB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96-well parallel simulation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1554480" y="3566160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BFB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Antigen co-evolution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A1A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A9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/ 20</a:t>
            </a:r>
            <a:endParaRPr lang="en-US" sz="800" dirty="0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27432"/>
          </a:xfrm>
          <a:prstGeom prst="rectangle">
            <a:avLst/>
          </a:prstGeom>
          <a:solidFill>
            <a:srgbClr val="3B82F6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3716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400" kern="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OUTLOOK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BFB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Scientific Questions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457200" y="1097280"/>
            <a:ext cx="822960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60000"/>
              </a:lnSpc>
              <a:buSzPct val="100000"/>
              <a:buChar char="•"/>
            </a:pPr>
            <a:r>
              <a:rPr lang="en-US" sz="1100" b="1" dirty="0">
                <a:solidFill>
                  <a:srgbClr val="FBFB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Q1: How large must N be for reliable maturation?</a:t>
            </a:r>
            <a:endParaRPr lang="en-US" sz="1100" dirty="0"/>
          </a:p>
          <a:p>
            <a:pPr marL="342900" indent="-342900">
              <a:lnSpc>
                <a:spcPct val="160000"/>
              </a:lnSpc>
              <a:buSzPct val="100000"/>
              <a:buChar char="•"/>
            </a:pPr>
            <a:r>
              <a:rPr lang="en-US" sz="1100" b="1" dirty="0">
                <a:solidFill>
                  <a:srgbClr val="FBFB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Q2: What is the max mutation rate for maturation at a given N?</a:t>
            </a:r>
            <a:endParaRPr lang="en-US" sz="1100" dirty="0"/>
          </a:p>
          <a:p>
            <a:pPr marL="342900" indent="-342900">
              <a:lnSpc>
                <a:spcPct val="160000"/>
              </a:lnSpc>
              <a:buSzPct val="100000"/>
              <a:buChar char="•"/>
            </a:pPr>
            <a:r>
              <a:rPr lang="en-US" sz="1100" b="1" dirty="0">
                <a:solidFill>
                  <a:srgbClr val="FBFB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Q3: How does DZ/LZ cycling frequency affect mutation load?</a:t>
            </a:r>
            <a:endParaRPr lang="en-US" sz="1100" dirty="0"/>
          </a:p>
          <a:p>
            <a:pPr marL="342900" indent="-342900">
              <a:lnSpc>
                <a:spcPct val="160000"/>
              </a:lnSpc>
              <a:buSzPct val="100000"/>
              <a:buChar char="•"/>
            </a:pPr>
            <a:r>
              <a:rPr lang="en-US" sz="1100" b="1" dirty="0">
                <a:solidFill>
                  <a:srgbClr val="FBFB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Q4: Does the GC architecture outperform directed evolution?</a:t>
            </a:r>
            <a:endParaRPr lang="en-US" sz="1100" dirty="0"/>
          </a:p>
          <a:p>
            <a:pPr marL="342900" indent="-342900">
              <a:lnSpc>
                <a:spcPct val="160000"/>
              </a:lnSpc>
              <a:buSzPct val="100000"/>
              <a:buChar char="•"/>
            </a:pPr>
            <a:r>
              <a:rPr lang="en-US" sz="1100" dirty="0">
                <a:solidFill>
                  <a:srgbClr val="9A9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Q5: How realistic is Hill selection vs bead binding?</a:t>
            </a:r>
            <a:endParaRPr lang="en-US" sz="1100" dirty="0"/>
          </a:p>
          <a:p>
            <a:pPr marL="342900" indent="-342900">
              <a:lnSpc>
                <a:spcPct val="160000"/>
              </a:lnSpc>
              <a:buSzPct val="100000"/>
              <a:buChar char="•"/>
            </a:pPr>
            <a:r>
              <a:rPr lang="en-US" sz="1100" dirty="0">
                <a:solidFill>
                  <a:srgbClr val="9A9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Q6: Can the system mature against multiple epitopes?</a:t>
            </a:r>
            <a:endParaRPr lang="en-US" sz="1100" dirty="0"/>
          </a:p>
          <a:p>
            <a:pPr marL="342900" indent="-342900">
              <a:lnSpc>
                <a:spcPct val="160000"/>
              </a:lnSpc>
              <a:buSzPct val="100000"/>
              <a:buChar char="•"/>
            </a:pPr>
            <a:r>
              <a:rPr lang="en-US" sz="1100" dirty="0">
                <a:solidFill>
                  <a:srgbClr val="9A9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Q9: How sensitive is maturation to landscape shape?</a:t>
            </a:r>
            <a:endParaRPr lang="en-US" sz="1100" dirty="0"/>
          </a:p>
          <a:p>
            <a:pPr marL="342900" indent="-342900">
              <a:lnSpc>
                <a:spcPct val="160000"/>
              </a:lnSpc>
              <a:buSzPct val="100000"/>
              <a:buChar char="•"/>
            </a:pPr>
            <a:r>
              <a:rPr lang="en-US" sz="1100" dirty="0">
                <a:solidFill>
                  <a:srgbClr val="9A9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Q11: How much does initial library affinity matter?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GPU Simulation of a Synthetic Germinal Center</dc:title>
  <dc:subject>PptxGenJS Presentation</dc:subject>
  <dc:creator>Michael Sedbon</dc:creator>
  <cp:lastModifiedBy>Michael Sedbon</cp:lastModifiedBy>
  <cp:revision>1</cp:revision>
  <dcterms:created xsi:type="dcterms:W3CDTF">2026-03-17T18:55:29Z</dcterms:created>
  <dcterms:modified xsi:type="dcterms:W3CDTF">2026-03-17T18:55:29Z</dcterms:modified>
</cp:coreProperties>
</file>